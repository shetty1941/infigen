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/>
            </a:pPr>
            <a:r>
              <a:t>Marketing Data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900"/>
            </a:pPr>
            <a:r>
              <a:t>Healthcare physician outreach | Jan–Mar 2024</a:t>
            </a:r>
            <a:br/>
            <a:r>
              <a:t>Candidate ID: B211623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Reach = 25,208 unique physicians.</a:t>
            </a:r>
          </a:p>
          <a:p>
            <a:pPr>
              <a:spcAft>
                <a:spcPts val="1000"/>
              </a:spcAft>
              <a:defRPr sz="1900"/>
            </a:pPr>
            <a:r>
              <a:t>Frequency = 3.97 activity-log records per reached physician.</a:t>
            </a:r>
          </a:p>
          <a:p>
            <a:pPr>
              <a:spcAft>
                <a:spcPts val="1000"/>
              </a:spcAft>
              <a:defRPr sz="1900"/>
            </a:pPr>
            <a:r>
              <a:t>Engagement = 18,521 Open/Click interactions (18.5% of activity records).</a:t>
            </a:r>
          </a:p>
          <a:p>
            <a:pPr>
              <a:spcAft>
                <a:spcPts val="1000"/>
              </a:spcAft>
              <a:defRPr sz="1900"/>
            </a:pPr>
            <a:r>
              <a:t>Email provides the broadest channel reach (22,092); SMS has the highest engagement rate (50.1%).</a:t>
            </a:r>
          </a:p>
          <a:p>
            <a:pPr>
              <a:spcAft>
                <a:spcPts val="1000"/>
              </a:spcAft>
              <a:defRPr sz="1900"/>
            </a:pPr>
            <a:r>
              <a:t>January maximizes reach; March maximizes activity volume and frequency.</a:t>
            </a:r>
          </a:p>
          <a:p>
            <a:pPr>
              <a:spcAft>
                <a:spcPts val="1000"/>
              </a:spcAft>
              <a:defRPr sz="1900"/>
            </a:pPr>
            <a:r>
              <a:t>Recommendation: retain Email for scale, test targeted SMS, and monitor March contact intensity.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2. Metric Definitions &amp; Assumptions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Reach = unique Physician ID count.</a:t>
            </a:r>
          </a:p>
          <a:p>
            <a:pPr>
              <a:spcAft>
                <a:spcPts val="1000"/>
              </a:spcAft>
              <a:defRPr sz="1700"/>
            </a:pPr>
            <a:r>
              <a:t>Frequency = total activity records ÷ unique physicians. This is an activity-log frequency because the data mixes Sent, Delivered, Open, Click and other events.</a:t>
            </a:r>
          </a:p>
          <a:p>
            <a:pPr>
              <a:spcAft>
                <a:spcPts val="1000"/>
              </a:spcAft>
              <a:defRPr sz="1700"/>
            </a:pPr>
            <a:r>
              <a:t>Engagement = Open + Click records; Unsubscribe is treated as a separate negative response.</a:t>
            </a:r>
          </a:p>
          <a:p>
            <a:pPr>
              <a:spcAft>
                <a:spcPts val="1000"/>
              </a:spcAft>
              <a:defRPr sz="1700"/>
            </a:pPr>
            <a:r>
              <a:t>Engagement Rate = Engagement ÷ Total Activity. It is descriptive, not a standard email open/click-through rate.</a:t>
            </a:r>
          </a:p>
          <a:p>
            <a:pPr>
              <a:spcAft>
                <a:spcPts val="1000"/>
              </a:spcAft>
              <a:defRPr sz="1700"/>
            </a:pPr>
            <a:r>
              <a:t>Segment reach is not additive because physicians may appear in multiple segments.</a:t>
            </a:r>
          </a:p>
          <a:p>
            <a:pPr>
              <a:spcAft>
                <a:spcPts val="1000"/>
              </a:spcAft>
              <a:defRPr sz="1700"/>
            </a:pPr>
            <a:r>
              <a:t>The Activity Metrics field is incomplete and is therefore not the primary engagement measure.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3. Reach by Communication Source</a:t>
            </a:r>
          </a:p>
        </p:txBody>
      </p:sp>
      <p:pic>
        <p:nvPicPr>
          <p:cNvPr id="3" name="Picture 2" descr="source_re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675120" cy="370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Internal CRM Tool has the largest source reach: 12,647.</a:t>
            </a:r>
          </a:p>
          <a:p>
            <a:pPr>
              <a:spcAft>
                <a:spcPts val="900"/>
              </a:spcAft>
              <a:defRPr sz="1500"/>
            </a:pPr>
            <a:r>
              <a:t>Sales Reps and Medspace360 reach 7,420 and 7,388.</a:t>
            </a:r>
          </a:p>
          <a:p>
            <a:pPr>
              <a:spcAft>
                <a:spcPts val="900"/>
              </a:spcAft>
              <a:defRPr sz="1500"/>
            </a:pPr>
            <a:r>
              <a:t>Do not add source reaches to estimate overall unique reach.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4. Engagement by Communication Source</a:t>
            </a:r>
          </a:p>
        </p:txBody>
      </p:sp>
      <p:pic>
        <p:nvPicPr>
          <p:cNvPr id="3" name="Picture 2" descr="source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675120" cy="37084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Highest engagement rate: Remission Report at 100.0%.</a:t>
            </a:r>
          </a:p>
          <a:p>
            <a:pPr>
              <a:spcAft>
                <a:spcPts val="900"/>
              </a:spcAft>
              <a:defRPr sz="1500"/>
            </a:pPr>
            <a:r>
              <a:t>Internal CRM Tool has the lowest rate at 10.5%, despite the largest reach.</a:t>
            </a:r>
          </a:p>
          <a:p>
            <a:pPr>
              <a:spcAft>
                <a:spcPts val="900"/>
              </a:spcAft>
              <a:defRPr sz="1500"/>
            </a:pPr>
            <a:r>
              <a:t>This shows a scale-versus-engagement trade-off.</a:t>
            </a:r>
          </a:p>
          <a:p>
            <a:pPr>
              <a:spcAft>
                <a:spcPts val="900"/>
              </a:spcAft>
              <a:defRPr sz="1500"/>
            </a:pPr>
            <a:r>
              <a:t>Validate event/source definitions before making major budget shifts.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5. Channel Comparison</a:t>
            </a:r>
          </a:p>
        </p:txBody>
      </p:sp>
      <p:pic>
        <p:nvPicPr>
          <p:cNvPr id="3" name="Picture 2" descr="channel_engag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675120" cy="417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Email: 22,092 reach; 16.0% engagement rate.</a:t>
            </a:r>
          </a:p>
          <a:p>
            <a:pPr>
              <a:spcAft>
                <a:spcPts val="900"/>
              </a:spcAft>
              <a:defRPr sz="1500"/>
            </a:pPr>
            <a:r>
              <a:t>Email Alert: 7,388 reach; 24.6% engagement rate.</a:t>
            </a:r>
          </a:p>
          <a:p>
            <a:pPr>
              <a:spcAft>
                <a:spcPts val="900"/>
              </a:spcAft>
              <a:defRPr sz="1500"/>
            </a:pPr>
            <a:r>
              <a:t>SMS: 1,848 reach; 50.1% engagement rate.</a:t>
            </a:r>
          </a:p>
          <a:p>
            <a:pPr>
              <a:spcAft>
                <a:spcPts val="900"/>
              </a:spcAft>
              <a:defRPr sz="1500"/>
            </a:pPr>
            <a:r>
              <a:t>Use Email for scale and targeted SMS for higher-engagement opportunities.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6. Monthly Trend</a:t>
            </a:r>
          </a:p>
        </p:txBody>
      </p:sp>
      <p:pic>
        <p:nvPicPr>
          <p:cNvPr id="3" name="Picture 2" descr="monthl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6675120" cy="41719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280160"/>
            <a:ext cx="4206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500"/>
            </a:pPr>
            <a:r>
              <a:t>January reach: 23,480.</a:t>
            </a:r>
          </a:p>
          <a:p>
            <a:pPr>
              <a:spcAft>
                <a:spcPts val="900"/>
              </a:spcAft>
              <a:defRPr sz="1500"/>
            </a:pPr>
            <a:r>
              <a:t>February activity: 18,239 records.</a:t>
            </a:r>
          </a:p>
          <a:p>
            <a:pPr>
              <a:spcAft>
                <a:spcPts val="900"/>
              </a:spcAft>
              <a:defRPr sz="1500"/>
            </a:pPr>
            <a:r>
              <a:t>March activity: 44,284 records; frequency 3.52.</a:t>
            </a:r>
          </a:p>
          <a:p>
            <a:pPr>
              <a:spcAft>
                <a:spcPts val="900"/>
              </a:spcAft>
              <a:defRPr sz="1500"/>
            </a:pPr>
            <a:r>
              <a:t>March's higher contact intensity should be monitored for over-contacting.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7. Activity Mix &amp; Data Quality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Sent: 62,061; Open: 17,745; Delivered: 14,798.</a:t>
            </a:r>
          </a:p>
          <a:p>
            <a:pPr>
              <a:spcAft>
                <a:spcPts val="1000"/>
              </a:spcAft>
              <a:defRPr sz="1700"/>
            </a:pPr>
            <a:r>
              <a:t>Click: 776; Unsubscribe: 65.</a:t>
            </a:r>
          </a:p>
          <a:p>
            <a:pPr>
              <a:spcAft>
                <a:spcPts val="1000"/>
              </a:spcAft>
              <a:defRPr sz="1700"/>
            </a:pPr>
            <a:r>
              <a:t>Bounce + Hard Bounce: 4,595.</a:t>
            </a:r>
          </a:p>
          <a:p>
            <a:pPr>
              <a:spcAft>
                <a:spcPts val="1000"/>
              </a:spcAft>
              <a:defRPr sz="1700"/>
            </a:pPr>
            <a:r>
              <a:t>Therapeutic Area is missing in 4,222 rows; Device is UNKNOWN in 96,905 rows.</a:t>
            </a:r>
          </a:p>
          <a:p>
            <a:pPr>
              <a:spcAft>
                <a:spcPts val="1000"/>
              </a:spcAft>
              <a:defRPr sz="1700"/>
            </a:pPr>
            <a:r>
              <a:t>The Activity Metrics field is missing in most rows, so it is not used as the primary engagement metric.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8.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/>
            </a:pPr>
            <a:r>
              <a:t>Maintain Email as the main scale channel.</a:t>
            </a:r>
          </a:p>
          <a:p>
            <a:pPr>
              <a:spcAft>
                <a:spcPts val="1000"/>
              </a:spcAft>
              <a:defRPr sz="1600"/>
            </a:pPr>
            <a:r>
              <a:t>Use targeted SMS experiments where high engagement can justify narrower reach; monitor opt-outs.</a:t>
            </a:r>
          </a:p>
          <a:p>
            <a:pPr>
              <a:spcAft>
                <a:spcPts val="1000"/>
              </a:spcAft>
              <a:defRPr sz="1600"/>
            </a:pPr>
            <a:r>
              <a:t>Review March campaign cadence and physician-level contact frequency before increasing volume.</a:t>
            </a:r>
          </a:p>
          <a:p>
            <a:pPr>
              <a:spcAft>
                <a:spcPts val="1000"/>
              </a:spcAft>
              <a:defRPr sz="1600"/>
            </a:pPr>
            <a:r>
              <a:t>Use source-level engagement to optimize campaigns, while validating that event definitions are comparable.</a:t>
            </a:r>
          </a:p>
          <a:p>
            <a:pPr>
              <a:spcAft>
                <a:spcPts val="1000"/>
              </a:spcAft>
              <a:defRPr sz="1600"/>
            </a:pPr>
            <a:r>
              <a:t>Improve Therapeutic Area, Device and Activity Metrics completeness.</a:t>
            </a:r>
          </a:p>
          <a:p>
            <a:pPr>
              <a:spcAft>
                <a:spcPts val="1000"/>
              </a:spcAft>
              <a:defRPr sz="1600"/>
            </a:pPr>
            <a:r>
              <a:t>Add campaign IDs, send IDs and downstream outcome/conversion fields to enable ROI and true funnel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9.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/>
            </a:pPr>
            <a:r>
              <a:t>The program reached 25,208 unique physicians across 100,040 activity records.</a:t>
            </a:r>
          </a:p>
          <a:p>
            <a:pPr>
              <a:spcAft>
                <a:spcPts val="1000"/>
              </a:spcAft>
              <a:defRPr sz="1900"/>
            </a:pPr>
            <a:r>
              <a:t>The data shows a clear scale-versus-engagement trade-off across sources and channels.</a:t>
            </a:r>
          </a:p>
          <a:p>
            <a:pPr>
              <a:spcAft>
                <a:spcPts val="1000"/>
              </a:spcAft>
              <a:defRPr sz="1900"/>
            </a:pPr>
            <a:r>
              <a:t>The strongest practical strategy is broad Email coverage combined with selective high-engagement outreach.</a:t>
            </a:r>
          </a:p>
          <a:p>
            <a:pPr>
              <a:spcAft>
                <a:spcPts val="1000"/>
              </a:spcAft>
              <a:defRPr sz="1900"/>
            </a:pPr>
            <a:r>
              <a:t>Detailed calculations and segment tables are included in the companion Excel workbook.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